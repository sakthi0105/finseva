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81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ea typeface="Calibri" pitchFamily="34" charset="-122"/>
                <a:cs typeface="Arial" panose="020B0604020202020204" pitchFamily="34" charset="0"/>
              </a:rPr>
              <a:t>FinSeva Solutions Pvt. Ltd.</a:t>
            </a:r>
            <a:endParaRPr lang="en-US" sz="4400" dirty="0"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ADCFC"/>
                </a:solidFill>
                <a:ea typeface="Calibri" pitchFamily="34" charset="-122"/>
                <a:cs typeface="Arial" panose="020B0604020202020204" pitchFamily="34" charset="0"/>
              </a:rPr>
              <a:t>Transaction Risk Data Warehouse</a:t>
            </a: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 smtClean="0">
                <a:solidFill>
                  <a:srgbClr val="00B0F0"/>
                </a:solidFill>
                <a:ea typeface="Calibri" pitchFamily="34" charset="-122"/>
                <a:cs typeface="Arial" panose="020B0604020202020204" pitchFamily="34" charset="0"/>
              </a:rPr>
              <a:t>SAKTHIVEL R – Team 39</a:t>
            </a:r>
            <a:endParaRPr lang="en-US" sz="2800" dirty="0">
              <a:solidFill>
                <a:srgbClr val="00B0F0"/>
              </a:solidFill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Risk Detection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9659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transactions processed daily with no way to flag suspicious activity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3154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Sitting Idle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and customer CSV files with no structured analysis pipeline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5720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Warehouse Structure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5074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star schema, no dimensions, no analytical layer for reporting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463040"/>
            <a:ext cx="5029200" cy="4572000"/>
          </a:xfrm>
          <a:prstGeom prst="roundRect">
            <a:avLst>
              <a:gd name="adj" fmla="val 3000"/>
            </a:avLst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end-to-end data pipeline that: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2880360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raw CSV data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0" y="3337560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0" y="3291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 and validates records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0" y="3794760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3749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risk flags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0" y="4251960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0" y="4206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star schema warehouse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4709160"/>
            <a:ext cx="201168" cy="20116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4663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risk analysis queries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95528" y="128016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6B7B8D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CSV Files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transactions.csv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customers.csv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828800"/>
            <a:ext cx="347472" cy="36576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0" y="128016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2608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17520" y="1874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extract.py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pd.read_csv()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81728" y="1828800"/>
            <a:ext cx="347472" cy="36576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0" y="128016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2D8B55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1874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clean.py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validate &amp; flag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84848" y="1828800"/>
            <a:ext cx="347472" cy="36576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128016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E67E22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Transform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1874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transform.py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risk flags + schema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97112" y="1828800"/>
            <a:ext cx="347472" cy="36576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72016" y="1280160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C0392B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72016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Load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63456" y="1874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load.py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ea typeface="Calibri" pitchFamily="34" charset="-122"/>
                <a:cs typeface="Calibri" pitchFamily="34" charset="-120"/>
              </a:rPr>
              <a:t>Oracle DB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533888" y="1828800"/>
            <a:ext cx="0" cy="36576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840" y="34975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4434840" y="3520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Rejected Records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rejected_records.csv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50992" y="2834640"/>
            <a:ext cx="320040" cy="594360"/>
          </a:xfrm>
          <a:prstGeom prst="downArrow">
            <a:avLst/>
          </a:prstGeom>
          <a:solidFill>
            <a:srgbClr val="C039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08960" y="4754880"/>
            <a:ext cx="7772400" cy="164592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 w="19050">
            <a:solidFill>
              <a:srgbClr val="1B3A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5C"/>
                </a:solidFill>
                <a:ea typeface="Calibri" pitchFamily="34" charset="-122"/>
                <a:cs typeface="Calibri" pitchFamily="34" charset="-120"/>
              </a:rPr>
              <a:t>Oracle Database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383280" y="534924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/>
        </p:spPr>
      </p:sp>
      <p:sp>
        <p:nvSpPr>
          <p:cNvPr id="32" name="Text 30"/>
          <p:cNvSpPr/>
          <p:nvPr/>
        </p:nvSpPr>
        <p:spPr>
          <a:xfrm>
            <a:off x="338328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FS_DIM_DATE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534924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FS_DIM_CUSTOMER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503920" y="534924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8503920" y="5394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FS_FACT_TRANSACTIONS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665208" y="2834640"/>
            <a:ext cx="320040" cy="1828800"/>
          </a:xfrm>
          <a:prstGeom prst="downArrow">
            <a:avLst/>
          </a:prstGeom>
          <a:solidFill>
            <a:srgbClr val="1B3A5C"/>
          </a:solidFill>
          <a:ln/>
        </p:spPr>
      </p:sp>
      <p:sp>
        <p:nvSpPr>
          <p:cNvPr id="39" name="Shape 1"/>
          <p:cNvSpPr/>
          <p:nvPr/>
        </p:nvSpPr>
        <p:spPr>
          <a:xfrm>
            <a:off x="886968" y="4864608"/>
            <a:ext cx="1737360" cy="1463040"/>
          </a:xfrm>
          <a:prstGeom prst="roundRect">
            <a:avLst>
              <a:gd name="adj" fmla="val 6250"/>
            </a:avLst>
          </a:prstGeom>
          <a:solidFill>
            <a:srgbClr val="7030A0"/>
          </a:solidFill>
          <a:ln/>
          <a:effectLst>
            <a:outerShdw blurRad="50800" dist="25400" dir="8100000" algn="bl" rotWithShape="0">
              <a:srgbClr val="999999">
                <a:alpha val="30000"/>
              </a:srgbClr>
            </a:outerShdw>
          </a:effectLst>
        </p:spPr>
      </p:sp>
      <p:sp>
        <p:nvSpPr>
          <p:cNvPr id="41" name="Text 2"/>
          <p:cNvSpPr/>
          <p:nvPr/>
        </p:nvSpPr>
        <p:spPr>
          <a:xfrm>
            <a:off x="886968" y="51724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smtClean="0">
                <a:solidFill>
                  <a:srgbClr val="FFFFFF"/>
                </a:solidFill>
                <a:cs typeface="Calibri" pitchFamily="34" charset="-120"/>
              </a:rPr>
              <a:t>Query</a:t>
            </a:r>
            <a:endParaRPr lang="en-US" sz="1500" dirty="0"/>
          </a:p>
        </p:txBody>
      </p:sp>
      <p:sp>
        <p:nvSpPr>
          <p:cNvPr id="42" name="Text 3"/>
          <p:cNvSpPr/>
          <p:nvPr/>
        </p:nvSpPr>
        <p:spPr>
          <a:xfrm>
            <a:off x="950976" y="54132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q</a:t>
            </a:r>
            <a:r>
              <a:rPr lang="en-US" sz="1100" dirty="0" smtClean="0">
                <a:solidFill>
                  <a:schemeClr val="bg1"/>
                </a:solidFill>
              </a:rPr>
              <a:t>uery.py</a:t>
            </a:r>
            <a:endParaRPr lang="en-US" sz="11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cs typeface="Calibri" pitchFamily="34" charset="-120"/>
              </a:rPr>
              <a:t>r</a:t>
            </a:r>
            <a:r>
              <a:rPr lang="en-US" sz="1100" dirty="0" smtClean="0">
                <a:solidFill>
                  <a:schemeClr val="bg1"/>
                </a:solidFill>
                <a:cs typeface="Calibri" pitchFamily="34" charset="-120"/>
              </a:rPr>
              <a:t>isk analysis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6" name="Shape 4"/>
          <p:cNvSpPr/>
          <p:nvPr/>
        </p:nvSpPr>
        <p:spPr>
          <a:xfrm rot="10800000">
            <a:off x="2638044" y="5475732"/>
            <a:ext cx="429768" cy="350520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840480" y="1645920"/>
            <a:ext cx="4572000" cy="4114800"/>
          </a:xfrm>
          <a:prstGeom prst="roundRect">
            <a:avLst>
              <a:gd name="adj" fmla="val 2667"/>
            </a:avLst>
          </a:prstGeom>
          <a:solidFill>
            <a:srgbClr val="1B3A5C"/>
          </a:solidFill>
          <a:ln/>
          <a:effectLst>
            <a:outerShdw blurRad="76200" dist="38100" dir="8100000" algn="bl" rotWithShape="0">
              <a:srgbClr val="888888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8404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FS_FACT_TRANSACTIONS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06240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TXN_KEY (PK)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206240" y="26151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TXN_ID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06240" y="29443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DATE_KEY (FK)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0" y="3273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CUSTOMER_KEY (FK)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06240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3931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0" y="42611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UNUSUAL_HOUR_FLAG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45902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CITY_MISMATCH_FLAG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06240" y="49194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06240" y="52486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AMOUNT_MISSING_FLAG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64592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2E75B6"/>
          </a:solidFill>
          <a:ln/>
          <a:effectLst>
            <a:outerShdw blurRad="50800" dist="25400" dir="8100000" algn="bl" rotWithShape="0">
              <a:srgbClr val="AAAAAA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FS_DIM_DATE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DATE_KEY (PK)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2615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FULL_DATE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273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6027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1645920"/>
            <a:ext cx="2743200" cy="2926080"/>
          </a:xfrm>
          <a:prstGeom prst="roundRect">
            <a:avLst>
              <a:gd name="adj" fmla="val 3333"/>
            </a:avLst>
          </a:prstGeom>
          <a:solidFill>
            <a:srgbClr val="2E75B6"/>
          </a:solidFill>
          <a:ln/>
          <a:effectLst>
            <a:outerShdw blurRad="50800" dist="25400" dir="8100000" algn="bl" rotWithShape="0">
              <a:srgbClr val="AAAAAA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FS_DIM_CUSTOMER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2354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CUSTOMER_KEY (PK)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2615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ACCOUNT_ID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3544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HOME_CITY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35440" y="3273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CREDIT_SCORE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46120" y="2743200"/>
            <a:ext cx="548640" cy="320040"/>
          </a:xfrm>
          <a:prstGeom prst="rightArrow">
            <a:avLst/>
          </a:prstGeom>
          <a:solidFill>
            <a:srgbClr val="D0D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412480" y="2743200"/>
            <a:ext cx="502920" cy="320040"/>
          </a:xfrm>
          <a:prstGeom prst="leftArrow">
            <a:avLst/>
          </a:prstGeom>
          <a:solidFill>
            <a:srgbClr val="D0D0D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Detection Logic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71600"/>
            <a:ext cx="3520440" cy="109728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4572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Hour Flag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 1 when the transaction occurs between 11 PM and 5 AM. Late night activity is a common indicator of fraudulent behavior.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371600"/>
            <a:ext cx="3520440" cy="109728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011680"/>
            <a:ext cx="352044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508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Mismatch Flag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 1 when the transaction city differs from the customer's registered home city. Location mismatches signal potential account misuse.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4F6F9"/>
          </a:solidFill>
          <a:ln/>
          <a:effectLst>
            <a:outerShdw blurRad="50800" dist="254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0" y="1371600"/>
            <a:ext cx="3520440" cy="109728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2011680"/>
            <a:ext cx="352044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1508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or 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0" y="283464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both flags. Score 0 means safe. Score 1 means one indicator triggered. Score 2 means both flags triggered and the transaction needs immediate review.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Handling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4F6F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Cleaning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txn_id / account_id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0" y="201168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txn_id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265176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0" y="2651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duplicate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city name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0" y="329184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2D8B55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amount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40480" y="39319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E67E22"/>
          </a:solidFill>
          <a:ln/>
        </p:spPr>
      </p:sp>
      <p:sp>
        <p:nvSpPr>
          <p:cNvPr id="16" name="Text 14"/>
          <p:cNvSpPr/>
          <p:nvPr/>
        </p:nvSpPr>
        <p:spPr>
          <a:xfrm>
            <a:off x="3840480" y="3931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&amp; keep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4572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/ zero amount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40480" y="457200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0" y="4572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5212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timestamp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40480" y="521208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5212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128016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4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Cleaning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0" y="2011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account_id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601200" y="201168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account_id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601200" y="265176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0" y="2651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duplicate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home_city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01200" y="329184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2D8B55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0" y="3931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credit_score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01200" y="39319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9601200" y="3931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572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outside 300-900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601200" y="457200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/>
          <p:nvPr/>
        </p:nvSpPr>
        <p:spPr>
          <a:xfrm>
            <a:off x="9601200" y="4572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6172200"/>
            <a:ext cx="11155680" cy="45720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raw transactions  &gt;  85 cleaned (9 rejected, 6 flagged with null amount)   |   26 raw customers  &gt;  22 cleaned (4 rejected)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28800" y="160020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orchestration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23560" y="1600200"/>
            <a:ext cx="914400" cy="914400"/>
          </a:xfrm>
          <a:prstGeom prst="ellipse">
            <a:avLst/>
          </a:prstGeom>
          <a:solidFill>
            <a:srgbClr val="2D8B55"/>
          </a:solidFill>
          <a:ln/>
        </p:spPr>
      </p:sp>
      <p:sp>
        <p:nvSpPr>
          <p:cNvPr id="10" name="Text 8"/>
          <p:cNvSpPr/>
          <p:nvPr/>
        </p:nvSpPr>
        <p:spPr>
          <a:xfrm>
            <a:off x="56235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validation, transformation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418320" y="1600200"/>
            <a:ext cx="914400" cy="9144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21040" y="2606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oracledb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connectivity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0" y="4160520"/>
            <a:ext cx="914400" cy="91440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182880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DB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5486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storage and queries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43400" y="39319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23560" y="4160520"/>
            <a:ext cx="914400" cy="914400"/>
          </a:xfrm>
          <a:prstGeom prst="ellipse">
            <a:avLst/>
          </a:prstGeom>
          <a:solidFill>
            <a:srgbClr val="6B7B8D"/>
          </a:solidFill>
          <a:ln/>
        </p:spPr>
      </p:sp>
      <p:sp>
        <p:nvSpPr>
          <p:cNvPr id="25" name="Text 23"/>
          <p:cNvSpPr/>
          <p:nvPr/>
        </p:nvSpPr>
        <p:spPr>
          <a:xfrm>
            <a:off x="562356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52628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26280" y="5486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credentials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38160" y="39319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/>
          <a:effectLst>
            <a:outerShdw blurRad="38100" dist="12700" dir="8100000" algn="bl" rotWithShape="0">
              <a:srgbClr val="CCCCCC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18320" y="4160520"/>
            <a:ext cx="914400" cy="9144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30" name="Text 28"/>
          <p:cNvSpPr/>
          <p:nvPr/>
        </p:nvSpPr>
        <p:spPr>
          <a:xfrm>
            <a:off x="941832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832104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321040" y="5486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FinSeva Solutions  |  Transaction Risk Data Warehouse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396</Words>
  <Application>Microsoft Office PowerPoint</Application>
  <PresentationFormat>Widescreen</PresentationFormat>
  <Paragraphs>131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4</cp:revision>
  <dcterms:created xsi:type="dcterms:W3CDTF">2026-07-15T04:09:29Z</dcterms:created>
  <dcterms:modified xsi:type="dcterms:W3CDTF">2026-07-15T05:38:07Z</dcterms:modified>
</cp:coreProperties>
</file>