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885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FinSeva Solutions Pvt. Ltd.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Risk Data Warehouse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5387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Sakthivel</a:t>
            </a:r>
            <a:r>
              <a:rPr lang="en-US" sz="2000" dirty="0" smtClean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 R – Team 39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029200" cy="1280160"/>
          </a:xfrm>
          <a:prstGeom prst="roundRect">
            <a:avLst>
              <a:gd name="adj" fmla="val 7143"/>
            </a:avLst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CCCCCC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 Detection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transactions processed daily with no way to flag suspicious activity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5029200" cy="1280160"/>
          </a:xfrm>
          <a:prstGeom prst="roundRect">
            <a:avLst>
              <a:gd name="adj" fmla="val 7143"/>
            </a:avLst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CCCCCC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Sitting Idle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520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and customer CSV files with no structured analysis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572000"/>
            <a:ext cx="5029200" cy="1280160"/>
          </a:xfrm>
          <a:prstGeom prst="roundRect">
            <a:avLst>
              <a:gd name="adj" fmla="val 7143"/>
            </a:avLst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CCCCCC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Warehouse Structure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5074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star schema, no dimensions, no analytical layer for reporting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data pipeline that: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0" y="2880360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raw CSV data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0" y="3337560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and validates records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0" y="3794760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risk flags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0" y="4251960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4206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star schema warehouse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0" y="4709160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4663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risk analysis queries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6B7B8D"/>
          </a:solidFill>
          <a:ln/>
          <a:effectLst>
            <a:outerShdw blurRad="50800" dist="25400" dir="8100000" algn="bl" rotWithShape="0">
              <a:srgbClr val="999999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transactions.csv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customers.csv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21408" y="1828800"/>
            <a:ext cx="347472" cy="365760"/>
          </a:xfrm>
          <a:prstGeom prst="rightArrow">
            <a:avLst/>
          </a:prstGeom>
          <a:solidFill>
            <a:srgbClr val="D0D0D0"/>
          </a:solidFill>
          <a:ln/>
        </p:spPr>
      </p:sp>
      <p:sp>
        <p:nvSpPr>
          <p:cNvPr id="7" name="Shape 5"/>
          <p:cNvSpPr/>
          <p:nvPr/>
        </p:nvSpPr>
        <p:spPr>
          <a:xfrm>
            <a:off x="2468880" y="12801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2E75B6"/>
          </a:solidFill>
          <a:ln/>
          <a:effectLst>
            <a:outerShdw blurRad="50800" dist="25400" dir="8100000" algn="bl" rotWithShape="0">
              <a:srgbClr val="999999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0" y="1874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extract.py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24528" y="1828800"/>
            <a:ext cx="347472" cy="365760"/>
          </a:xfrm>
          <a:prstGeom prst="rightArrow">
            <a:avLst/>
          </a:prstGeom>
          <a:solidFill>
            <a:srgbClr val="D0D0D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2801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2D8B55"/>
          </a:solidFill>
          <a:ln/>
          <a:effectLst>
            <a:outerShdw blurRad="50800" dist="25400" dir="8100000" algn="bl" rotWithShape="0">
              <a:srgbClr val="999999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1874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clean.py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flag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27648" y="1828800"/>
            <a:ext cx="347472" cy="365760"/>
          </a:xfrm>
          <a:prstGeom prst="rightArrow">
            <a:avLst/>
          </a:prstGeom>
          <a:solidFill>
            <a:srgbClr val="D0D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12801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E67E22"/>
          </a:solidFill>
          <a:ln/>
          <a:effectLst>
            <a:outerShdw blurRad="50800" dist="25400" dir="8100000" algn="bl" rotWithShape="0">
              <a:srgbClr val="999999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66560" y="1874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transform.py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 + schema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30768" y="1828800"/>
            <a:ext cx="347472" cy="365760"/>
          </a:xfrm>
          <a:prstGeom prst="rightArrow">
            <a:avLst/>
          </a:prstGeom>
          <a:solidFill>
            <a:srgbClr val="D0D0D0"/>
          </a:solidFill>
          <a:ln/>
        </p:spPr>
      </p:sp>
      <p:sp>
        <p:nvSpPr>
          <p:cNvPr id="19" name="Shape 17"/>
          <p:cNvSpPr/>
          <p:nvPr/>
        </p:nvSpPr>
        <p:spPr>
          <a:xfrm>
            <a:off x="8778240" y="12801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C0392B"/>
          </a:solidFill>
          <a:ln/>
          <a:effectLst>
            <a:outerShdw blurRad="50800" dist="25400" dir="8100000" algn="bl" rotWithShape="0">
              <a:srgbClr val="999999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7824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69680" y="1874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load.py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533888" y="1828800"/>
            <a:ext cx="0" cy="365760"/>
          </a:xfrm>
          <a:prstGeom prst="rightArrow">
            <a:avLst/>
          </a:prstGeom>
          <a:solidFill>
            <a:srgbClr val="D0D0D0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0" y="347472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0" y="3520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Records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rejected_records.csv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80660" y="2880360"/>
            <a:ext cx="320040" cy="594360"/>
          </a:xfrm>
          <a:prstGeom prst="downArrow">
            <a:avLst/>
          </a:prstGeom>
          <a:solidFill>
            <a:srgbClr val="C0392B"/>
          </a:solidFill>
          <a:ln/>
        </p:spPr>
      </p:sp>
      <p:sp>
        <p:nvSpPr>
          <p:cNvPr id="29" name="Shape 27"/>
          <p:cNvSpPr/>
          <p:nvPr/>
        </p:nvSpPr>
        <p:spPr>
          <a:xfrm>
            <a:off x="2103120" y="4800600"/>
            <a:ext cx="7772400" cy="1645920"/>
          </a:xfrm>
          <a:prstGeom prst="roundRect">
            <a:avLst>
              <a:gd name="adj" fmla="val 5556"/>
            </a:avLst>
          </a:prstGeom>
          <a:solidFill>
            <a:srgbClr val="F4F6F9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377440" y="53949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/>
        </p:spPr>
      </p:sp>
      <p:sp>
        <p:nvSpPr>
          <p:cNvPr id="32" name="Text 30"/>
          <p:cNvSpPr/>
          <p:nvPr/>
        </p:nvSpPr>
        <p:spPr>
          <a:xfrm>
            <a:off x="2377440" y="5394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FS_DIM_DATE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53492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5394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FS_DIM_CUSTOMER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98080" y="53492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0" y="5394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FS_FACT_TRANSACTIONS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281160" y="2834640"/>
            <a:ext cx="320040" cy="1828800"/>
          </a:xfrm>
          <a:prstGeom prst="downArrow">
            <a:avLst/>
          </a:prstGeom>
          <a:solidFill>
            <a:srgbClr val="1B3A5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840480" y="164592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  <a:effectLst>
            <a:outerShdw blurRad="76200" dist="38100" dir="8100000" algn="bl" rotWithShape="0">
              <a:srgbClr val="888888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FS_FACT_TRANSACTIONS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06240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TXN_KEY (PK)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06240" y="26151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06240" y="29443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 (FK)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0" y="3273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CUSTOMER_KEY (FK)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36027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4261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UNUSUAL_HOUR_FLAG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4590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CITY_MISMATCH_FLAG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4919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52486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AMOUNT_MISSING_FLAG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64592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2E75B6"/>
          </a:solidFill>
          <a:ln/>
          <a:effectLst>
            <a:outerShdw blurRad="50800" dist="25400" dir="8100000" algn="bl" rotWithShape="0">
              <a:srgbClr val="AAAAAA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FS_DIM_DATE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2286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 (PK)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6151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443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2735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6027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931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61120" y="164592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2E75B6"/>
          </a:solidFill>
          <a:ln/>
          <a:effectLst>
            <a:outerShdw blurRad="50800" dist="25400" dir="8100000" algn="bl" rotWithShape="0">
              <a:srgbClr val="AAAAAA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6112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FS_DIM_CUSTOMER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35440" y="2286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CUSTOMER_KEY (PK)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26151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35440" y="29443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HOME_CITY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35440" y="32735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CREDIT_SCORE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2743200"/>
            <a:ext cx="548640" cy="320040"/>
          </a:xfrm>
          <a:prstGeom prst="rightArrow">
            <a:avLst/>
          </a:prstGeom>
          <a:solidFill>
            <a:srgbClr val="D0D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8412480" y="2743200"/>
            <a:ext cx="502920" cy="320040"/>
          </a:xfrm>
          <a:prstGeom prst="leftArrow">
            <a:avLst/>
          </a:prstGeom>
          <a:solidFill>
            <a:srgbClr val="D0D0D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 Logic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352044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Hour Flag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or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1 when the transaction occurs between 11 PM and 5 AM. Late night activity is a common indicator of fraudulent behavior.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37160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2011680"/>
            <a:ext cx="352044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508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Mismatch Flag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or 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283464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1 when the transaction city differs from the customer's registered home city. Location mismatches signal potential account misuse.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37160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4F6F9"/>
          </a:solidFill>
          <a:ln/>
          <a:effectLst>
            <a:outerShdw blurRad="50800" dist="25400" dir="81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371600"/>
            <a:ext cx="3520440" cy="109728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2011680"/>
            <a:ext cx="352044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508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1, or 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283464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both flags. Score 0 means safe. Score 1 means one indicator triggered. Score 2 means both flags triggered and the transaction needs immediate review.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Handling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4F6F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Cleaning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txn_id / account_id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0" y="201168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txn_id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265176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2651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duplicate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city name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0" y="329184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2D8B55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931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amount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0" y="393192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&amp; keep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572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/ zero amount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0" y="457200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4572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timestamp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0" y="521208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5212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28016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4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1417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Cleaning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83680" y="2011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account_id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601200" y="201168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account_id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601200" y="265176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0" y="2651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duplicate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home_city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601200" y="329184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2D8B55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0" y="3931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credit_score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601200" y="393192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0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83680" y="4572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outside 300-900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601200" y="457200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9601200" y="4572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6172200"/>
            <a:ext cx="11155680" cy="45720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6172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raw transactions  &gt;  85 cleaned (9 rejected, 6 flagged with null amount)   |   26 raw customers  &gt;  22 cleaned (4 rejected)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FinSeva Solutions  |  Transaction Risk Data Warehouse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357</Words>
  <Application>Microsoft Office PowerPoint</Application>
  <PresentationFormat>Widescreen</PresentationFormat>
  <Paragraphs>108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3</cp:revision>
  <dcterms:created xsi:type="dcterms:W3CDTF">2026-07-15T04:09:29Z</dcterms:created>
  <dcterms:modified xsi:type="dcterms:W3CDTF">2026-07-15T04:26:26Z</dcterms:modified>
</cp:coreProperties>
</file>